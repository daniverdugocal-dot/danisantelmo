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Impacto anual (€)</c:v>
                </c:pt>
              </c:strCache>
            </c:strRef>
          </c:tx>
          <c:spPr>
            <a:solidFill>
              <a:srgbClr val="B3261E"/>
            </a:solidFill>
            <a:effectLst/>
          </c:spPr>
          <c:invertIfNegative val="0"/>
          <c:dLbls>
            <c:numFmt formatCode="#,##0 &quot;€&quot;;-#,##0 &quot;€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2294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6B3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Contrato actual</c:v>
                  </c:pt>
                  <c:pt idx="1">
                    <c:v>Contrato renegociado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-188877</c:v>
                </c:pt>
                <c:pt idx="1">
                  <c:v>48606</c:v>
                </c:pt>
              </c:numCache>
            </c:numRef>
          </c:val>
        </c:ser>
        <c:dLbls>
          <c:numFmt formatCode="#,##0 &quot;€&quot;;-#,##0 &quot;€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2294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229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00"/>
          <c:min val="-240000"/>
        </c:scaling>
        <c:delete val="0"/>
        <c:axPos val="l"/>
        <c:majorGridlines>
          <c:spPr>
            <a:ln w="12700" cap="flat">
              <a:solidFill>
                <a:srgbClr val="E8E3D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Voy a defender el caso Alcopalet. En diez minutos: cuál es el problema, qué decisión propongo y cómo se ejecuta.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voy a contar el caso, que ya conocen. Solo subrayo una cosa: la máquina hay que decidirla hoy, el contrato es todavía un borrador. Son dos decisiones, no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precio es de 10 € y el coste unitario 10,52 €. El margen es negativo antes de cualquier coste fijo. Y la madera es el 83 % del precio, así que ninguna mejora de productividad lo arregla.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Sumando campa, leasing y el coste de cobrar a 180 días, el contrato resta 188.877 € al año: dos tercios del beneficio de toda la empresa, no solo de la línea.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alternativas viables. Las dos primeras son las que estaban sobre la mesa; las dos últimas salen del análisis. Descarté una quinta, esperar y buscar otra máquina, porque el fabricante exige respuesta hoy.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decisión se valora desde tres perspectivas. La económico-financiera es la que más pesa, porque el problema es de margen y de caja.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1 destruye valor. La 2 no prepara a la empresa para crecer. La 3 es buena, pero desaprovecha a Persán si se puede hacer rentable; la mantengo como plan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decisión: comprar el robot hoy y condicionar la firma a renegociar precio y plazo de cobro. Son dos decisiones separadas, con plazos distintos.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12,50 € y cobro a 90 días el contrato pasa de restar 188.877 € a aportar 48.606 €. La mejora es de 237.483 € anuales.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máquina no se compra por capacidad. Se compra por flexibilidad y por reducir la dependencia de una mano de obra difícil de contratar. Se paga en 84 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fases. La clave está en la primera: el robot se confirma hoy, pero la campa y el camión no se contratan hasta que haya firma.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Persán no acepta, se rechaza y se conserva la máquina. Crecer sí, pero con margen. Invertir sí, pero sin atar la inversión al contrato. Y repartir sí, cuando el negocio genere caja. Muchas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PRÁCTICO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12848"/>
            <a:ext cx="109087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ALCOPALET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10908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D6E2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precio del crecimiento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4224528"/>
            <a:ext cx="118872" cy="118872"/>
          </a:xfrm>
          <a:prstGeom prst="ellipse">
            <a:avLst/>
          </a:prstGeom>
          <a:solidFill>
            <a:srgbClr val="8FB3D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Verdugo Calvo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 LYDES  ·  San Telmo Business School  ·  31 de agosto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asuntos sobre la mesa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 diciembre de 2025 · Comité de dirección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16224" cy="2999232"/>
          </a:xfrm>
          <a:prstGeom prst="roundRect">
            <a:avLst>
              <a:gd name="adj" fmla="val 91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65960"/>
            <a:ext cx="475488" cy="475488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578608"/>
            <a:ext cx="2676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Contrato Persán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310128"/>
            <a:ext cx="267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90.000 palés/año a 10 € fijos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5 años · cobro a 180 días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4279392"/>
            <a:ext cx="2676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6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sin firmar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76344" y="1691640"/>
            <a:ext cx="3316224" cy="2999232"/>
          </a:xfrm>
          <a:prstGeom prst="roundRect">
            <a:avLst>
              <a:gd name="adj" fmla="val 91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6384" y="1965960"/>
            <a:ext cx="475488" cy="475488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96384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2578608"/>
            <a:ext cx="2676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Nueva máquina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96384" y="3310128"/>
            <a:ext cx="267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40.000 € · más flexibilidad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menos dependencia de mano de obra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96384" y="4279392"/>
            <a:ext cx="2676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6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HOY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12608" y="1691640"/>
            <a:ext cx="3316224" cy="2999232"/>
          </a:xfrm>
          <a:prstGeom prst="roundRect">
            <a:avLst>
              <a:gd name="adj" fmla="val 91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32648" y="1965960"/>
            <a:ext cx="475488" cy="475488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32648" y="1965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8232648" y="2578608"/>
            <a:ext cx="26761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Reparto a los fundadores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232648" y="3310128"/>
            <a:ext cx="267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padres quieren recoger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frutos de dieciocho años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232648" y="4279392"/>
            <a:ext cx="2676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6C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RESOLVER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5074920"/>
            <a:ext cx="10908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dos primeras decisiones se han tratado como una sola. Tienen plazos distintos.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no es de capacidad. Es de precio.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Escandallo de costes unitarios · Anexo 3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7373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por palé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17373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10,00 €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5798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 prima (madera y clavos)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1579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8,27 €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7860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 de obra directa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57860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0,42 €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992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29992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0,53 €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1985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costes variables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41985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1,30 €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6035040" cy="420624"/>
          </a:xfrm>
          <a:prstGeom prst="roundRect">
            <a:avLst>
              <a:gd name="adj" fmla="val 6522"/>
            </a:avLst>
          </a:prstGeom>
          <a:solidFill>
            <a:srgbClr val="D6E2F0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4048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UNITARIO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0" y="384048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10,52 €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06640" y="1691640"/>
            <a:ext cx="4142232" cy="2651760"/>
          </a:xfrm>
          <a:prstGeom prst="roundRect">
            <a:avLst>
              <a:gd name="adj" fmla="val 1034"/>
            </a:avLst>
          </a:prstGeom>
          <a:solidFill>
            <a:srgbClr val="12294A"/>
          </a:solidFill>
          <a:ln w="12700">
            <a:solidFill>
              <a:srgbClr val="1229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26680" y="1965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POR PALÉ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228600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−0,52 €</a:t>
            </a:r>
            <a:endParaRPr lang="en-US" sz="62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40156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palé vendido a Persán resta margen.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el volumen ni la máquina lo corrigen.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8920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madera representa el 82,7 % del precio pactado, y el contrato lo fija durante cinco años sin revisión.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costaría firmar tal como está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de resultados incremental del contrato · Anexo 6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6492240" cy="566928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837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de contribución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8483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90.000 ud × (−0,52 €)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9202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−46.800 €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40080" y="2441448"/>
            <a:ext cx="6492240" cy="566928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249631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Alquiler de la campa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4320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5.000 €/mes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54880" y="2578608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−60.000 €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40080" y="3099816"/>
            <a:ext cx="6492240" cy="566928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154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Leasing máquina + camión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40156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4.000 €/mes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23697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−48.000 €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6492240" cy="566928"/>
          </a:xfrm>
          <a:prstGeom prst="roundRect">
            <a:avLst>
              <a:gd name="adj" fmla="val 483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8130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 del circulante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40599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454.356 € al 7,5 %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8953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−34.077 €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635240" y="1783080"/>
            <a:ext cx="3913632" cy="3035808"/>
          </a:xfrm>
          <a:prstGeom prst="roundRect">
            <a:avLst>
              <a:gd name="adj" fmla="val 904"/>
            </a:avLst>
          </a:prstGeom>
          <a:solidFill>
            <a:srgbClr val="12294A"/>
          </a:solidFill>
          <a:ln w="12700">
            <a:solidFill>
              <a:srgbClr val="1229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55280" y="20574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ANUAL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37744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8A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−188.877 €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7955280" y="340156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67,6 %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9464040" y="34564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beneficio de</a:t>
            </a:r>
            <a:endParaRPr lang="en-US" sz="12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empresa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41605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944.383 € acumulados en los cinco años del contrato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alternativas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y análisis de opciones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908792" cy="932688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20240"/>
            <a:ext cx="475488" cy="475488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20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83794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Aceptar el contrato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20370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 como está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19659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−188.877 € al año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40080" y="2770632"/>
            <a:ext cx="10908792" cy="932688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999232"/>
            <a:ext cx="475488" cy="475488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2999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29169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Rechazarlo y no invertir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28269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la situación actual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04495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crecimiento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3849624"/>
            <a:ext cx="10908792" cy="932688"/>
          </a:xfrm>
          <a:prstGeom prst="roundRect">
            <a:avLst>
              <a:gd name="adj" fmla="val 294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078224"/>
            <a:ext cx="475488" cy="475488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4078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399592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Comprar solo el robot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43616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vincularlo a Persán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41239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171.262 € de ahorro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" y="4928616"/>
            <a:ext cx="10908792" cy="932688"/>
          </a:xfrm>
          <a:prstGeom prst="roundRect">
            <a:avLst>
              <a:gd name="adj" fmla="val 2941"/>
            </a:avLst>
          </a:prstGeom>
          <a:solidFill>
            <a:srgbClr val="D6E2F0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5157216"/>
            <a:ext cx="475488" cy="475488"/>
          </a:xfrm>
          <a:prstGeom prst="ellipse">
            <a:avLst/>
          </a:prstGeom>
          <a:solidFill>
            <a:srgbClr val="1229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51572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1600200" y="507492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Renegociar y después firmar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54406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12,50 € y cobro a 90 días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520293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+48.606 € al año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perspectivas para decidir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Fijación de criterios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16224" cy="3246120"/>
          </a:xfrm>
          <a:prstGeom prst="roundRect">
            <a:avLst>
              <a:gd name="adj" fmla="val 845"/>
            </a:avLst>
          </a:prstGeom>
          <a:solidFill>
            <a:srgbClr val="12294A"/>
          </a:solidFill>
          <a:ln w="12700">
            <a:solidFill>
              <a:srgbClr val="12294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65960"/>
            <a:ext cx="457200" cy="457200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578608"/>
            <a:ext cx="267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Económico-financiera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246120"/>
            <a:ext cx="26761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 de cada alternativa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necesarios y efecto en la liquidez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crecimiento no deteriore el margen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6344" y="1691640"/>
            <a:ext cx="3316224" cy="3246120"/>
          </a:xfrm>
          <a:prstGeom prst="roundRect">
            <a:avLst>
              <a:gd name="adj" fmla="val 84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96384" y="1965960"/>
            <a:ext cx="457200" cy="457200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6384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96384" y="2578608"/>
            <a:ext cx="267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Estratégica y de mercado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96384" y="3246120"/>
            <a:ext cx="26761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Contribución al crecimiento futuro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disponible para acompañarlo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que Persán pese en exceso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912608" y="1691640"/>
            <a:ext cx="3316224" cy="3246120"/>
          </a:xfrm>
          <a:prstGeom prst="roundRect">
            <a:avLst>
              <a:gd name="adj" fmla="val 84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32648" y="1965960"/>
            <a:ext cx="457200" cy="457200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32648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32648" y="2578608"/>
            <a:ext cx="267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Organizativa y humana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32648" y="3246120"/>
            <a:ext cx="26761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servicio a los clientes actuales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Aprovechar la plantilla sin despidos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 con los intereses de la familia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se descartan tres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Elección justificada · rechazo de alternativas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908792" cy="1115568"/>
          </a:xfrm>
          <a:prstGeom prst="roundRect">
            <a:avLst>
              <a:gd name="adj" fmla="val 245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057400"/>
            <a:ext cx="475488" cy="47548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32688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9202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Aceptar tal como está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28600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Sería crecer destruyendo valor: el precio de 10 € es inferior al coste de 10,52 €.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208483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−188.877 €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035808"/>
            <a:ext cx="10908792" cy="1115568"/>
          </a:xfrm>
          <a:prstGeom prst="roundRect">
            <a:avLst>
              <a:gd name="adj" fmla="val 245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355848"/>
            <a:ext cx="475488" cy="47548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32688" y="33558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3218688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Rechazar y no invertir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584448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resuelve las limitaciones de capacidad y espacio, y renuncia a 99.670 palés de recorrido en palé usado.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33832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futuro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334256"/>
            <a:ext cx="10908792" cy="1115568"/>
          </a:xfrm>
          <a:prstGeom prst="roundRect">
            <a:avLst>
              <a:gd name="adj" fmla="val 245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654296"/>
            <a:ext cx="475488" cy="475488"/>
          </a:xfrm>
          <a:prstGeom prst="ellipse">
            <a:avLst/>
          </a:prstGeom>
          <a:solidFill>
            <a:srgbClr val="5A647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32688" y="46542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645920" y="4517136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Solo el robot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645920" y="4882896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Favorable en lo productivo, pero desaprovecha la oportunidad comercial si Persán puede ser rentable.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869680" y="46817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B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DECISIÓN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45159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Invertir en el robot y renegociar antes de firmar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06040"/>
            <a:ext cx="3270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14717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trike="sngStrike" dirty="0">
                <a:solidFill>
                  <a:srgbClr val="7C88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10,00 €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2111807" y="2980944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495855" y="2926080"/>
            <a:ext cx="17006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12,50 €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276344" y="2606040"/>
            <a:ext cx="3270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DE COBRO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276344" y="2926080"/>
            <a:ext cx="14717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trike="sngStrike" dirty="0">
                <a:solidFill>
                  <a:srgbClr val="7C88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 días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748071" y="2980944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132119" y="2926080"/>
            <a:ext cx="17006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días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912608" y="2606040"/>
            <a:ext cx="3270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POR PALÉ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912608" y="2926080"/>
            <a:ext cx="14717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trike="sngStrike" dirty="0">
                <a:solidFill>
                  <a:srgbClr val="7C88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−0,52 €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384335" y="2980944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768383" y="2926080"/>
            <a:ext cx="17006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+1,98 €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977640"/>
            <a:ext cx="104515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robot se compra hoy: 40.000 € que se justifican por flexibilidad y se recuperan en 84 días.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firma queda condicionada a que Persán acepte unas condiciones rentables.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efecto de renegociar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anual del contrato · Anexo 8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6858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593592" cy="1417320"/>
          </a:xfrm>
          <a:prstGeom prst="roundRect">
            <a:avLst>
              <a:gd name="adj" fmla="val 1935"/>
            </a:avLst>
          </a:prstGeom>
          <a:solidFill>
            <a:srgbClr val="D6E2F0"/>
          </a:solidFill>
          <a:ln w="12700">
            <a:solidFill>
              <a:srgbClr val="D6E2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0" y="193852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ANUAL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2212848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+237.483 €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001000" y="3502152"/>
            <a:ext cx="100584" cy="100584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0" y="33832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por palé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621024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−0,52 € a +1,98 €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001000" y="4069080"/>
            <a:ext cx="100584" cy="100584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229600" y="3950208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Circulante inmovilizado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187952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reduce a la mitad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01000" y="4636008"/>
            <a:ext cx="100584" cy="100584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0" y="4517136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de la empresa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475488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vuelve a crecer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robot se justifica por sí solo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Inversión independiente del contrato · Anexo 7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316224" cy="2148840"/>
          </a:xfrm>
          <a:prstGeom prst="roundRect">
            <a:avLst>
              <a:gd name="adj" fmla="val 12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38528"/>
            <a:ext cx="2676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6C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40.000 €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734056"/>
            <a:ext cx="2676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inversión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63240"/>
            <a:ext cx="267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a un beneficio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279.364 €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6344" y="1691640"/>
            <a:ext cx="3316224" cy="2148840"/>
          </a:xfrm>
          <a:prstGeom prst="roundRect">
            <a:avLst>
              <a:gd name="adj" fmla="val 12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96384" y="1938528"/>
            <a:ext cx="2676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6C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 días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4596384" y="2734056"/>
            <a:ext cx="2676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recuperación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96384" y="3063240"/>
            <a:ext cx="267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el ahorro neto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171.262 € anuales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12608" y="1691640"/>
            <a:ext cx="3316224" cy="2148840"/>
          </a:xfrm>
          <a:prstGeom prst="roundRect">
            <a:avLst>
              <a:gd name="adj" fmla="val 12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32648" y="1938528"/>
            <a:ext cx="26761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E6C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operarios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8232648" y="2734056"/>
            <a:ext cx="2676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liberados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32648" y="3063240"/>
            <a:ext cx="2676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despidos: se recolocan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palé usado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160520"/>
            <a:ext cx="10908792" cy="1143000"/>
          </a:xfrm>
          <a:prstGeom prst="roundRect">
            <a:avLst>
              <a:gd name="adj" fmla="val 2400"/>
            </a:avLst>
          </a:prstGeom>
          <a:solidFill>
            <a:srgbClr val="12294A"/>
          </a:solidFill>
          <a:ln w="12700">
            <a:solidFill>
              <a:srgbClr val="1229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352544"/>
            <a:ext cx="5760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compra la máquina es flexibilidad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73659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cambio de formato pasa de 300 a 25 minutos, lo que hace viables las series cortas.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45262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strike="sngStrike" dirty="0">
                <a:solidFill>
                  <a:srgbClr val="7C88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min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641080" y="459028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4526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min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908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acción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987552"/>
            <a:ext cx="10908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Secuenciación temporal de actuaciones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19656"/>
            <a:ext cx="457200" cy="457200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19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68680" y="2276856"/>
            <a:ext cx="0" cy="438912"/>
          </a:xfrm>
          <a:prstGeom prst="line">
            <a:avLst/>
          </a:prstGeom>
          <a:noFill/>
          <a:ln w="25400">
            <a:solidFill>
              <a:srgbClr val="D6E2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175564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1. Negociación y decisión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08483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el robot y negociar precio y plazo. La firma queda condicionada a la rentabilidad.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15768"/>
            <a:ext cx="457200" cy="457200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8680" y="3172968"/>
            <a:ext cx="0" cy="438912"/>
          </a:xfrm>
          <a:prstGeom prst="line">
            <a:avLst/>
          </a:prstGeom>
          <a:noFill/>
          <a:ln w="25400">
            <a:solidFill>
              <a:srgbClr val="D6E2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417320" y="265176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2. Implantación productiva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298094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Instalación, pruebas por formato y operario formado. Campa y transporte, solo si hay acuerdo.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68680" y="4069080"/>
            <a:ext cx="0" cy="438912"/>
          </a:xfrm>
          <a:prstGeom prst="line">
            <a:avLst/>
          </a:prstGeom>
          <a:noFill/>
          <a:ln w="25400">
            <a:solidFill>
              <a:srgbClr val="D6E2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417320" y="3547872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3. Reorganización de recursos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7705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Reasignar sin despidos a palé usado y revisar la distribución del espacio.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507992"/>
            <a:ext cx="457200" cy="457200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507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68680" y="4965192"/>
            <a:ext cx="0" cy="438912"/>
          </a:xfrm>
          <a:prstGeom prst="line">
            <a:avLst/>
          </a:prstGeom>
          <a:noFill/>
          <a:ln w="25400">
            <a:solidFill>
              <a:srgbClr val="D6E2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17320" y="4443984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4. Seguimiento y control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77316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Cuadro de mando mensual y revisión a los tres y seis meses.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404104"/>
            <a:ext cx="457200" cy="457200"/>
          </a:xfrm>
          <a:prstGeom prst="ellipse">
            <a:avLst/>
          </a:prstGeom>
          <a:solidFill>
            <a:srgbClr val="3E6CA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54041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5340096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9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Fase 5. Consolidación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669280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la capacidad para ampliar cartera y evitar la dependencia de un solo cliente.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327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Alcopalet · El precio del crecimiento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10634472" y="632764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8A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9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5156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8FB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¿Y SI PERSÁN NO ACEPTA?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4515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rechaza el contrato y se mantiene la inversión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33472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máquina deja de depender de Persán y pasa a formar parte de la modernización de la estructura productiva. La capacidad liberada se orienta a captar clientes rentables.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118872" cy="118872"/>
          </a:xfrm>
          <a:prstGeom prst="ellipse">
            <a:avLst/>
          </a:prstGeom>
          <a:solidFill>
            <a:srgbClr val="8FB3D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114800"/>
            <a:ext cx="3270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Crecer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53712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pero con margen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76344" y="3886200"/>
            <a:ext cx="118872" cy="118872"/>
          </a:xfrm>
          <a:prstGeom prst="ellipse">
            <a:avLst/>
          </a:prstGeom>
          <a:solidFill>
            <a:srgbClr val="8FB3D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276344" y="4114800"/>
            <a:ext cx="3270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Invertir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276344" y="4553712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pero sin atarlo al contrato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12608" y="3886200"/>
            <a:ext cx="118872" cy="118872"/>
          </a:xfrm>
          <a:prstGeom prst="ellipse">
            <a:avLst/>
          </a:prstGeom>
          <a:solidFill>
            <a:srgbClr val="8FB3D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912608" y="4114800"/>
            <a:ext cx="327050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Repartir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912608" y="4553712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2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sí, cuando el negocio genere caja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806440"/>
            <a:ext cx="10908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C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Verdugo Calvo  ·  Programa LYDES  ·  San Telmo Business School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Alcopalet — El precio del crecimiento</dc:title>
  <dc:subject>PptxGenJS Presentation</dc:subject>
  <dc:creator>Daniel Verdugo Calvo</dc:creator>
  <cp:lastModifiedBy>Daniel Verdugo Calvo</cp:lastModifiedBy>
  <cp:revision>1</cp:revision>
  <dcterms:created xsi:type="dcterms:W3CDTF">2026-08-29T16:00:00Z</dcterms:created>
  <dcterms:modified xsi:type="dcterms:W3CDTF">2026-08-29T16:00:00Z</dcterms:modified>
</cp:coreProperties>
</file>