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Impacto anual (€)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 &quot;€&quot;;-#,##0 &quot;€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211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F4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Contrato actual</c:v>
                  </c:pt>
                  <c:pt idx="1">
                    <c:v>Contrato renegociado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-188877</c:v>
                </c:pt>
                <c:pt idx="1">
                  <c:v>48606</c:v>
                </c:pt>
              </c:numCache>
            </c:numRef>
          </c:val>
        </c:ser>
        <c:dLbls>
          <c:numFmt formatCode="#,##0 &quot;€&quot;;-#,##0 &quot;€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B211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0"/>
          <c:min val="-240000"/>
        </c:scaling>
        <c:delete val="0"/>
        <c:axPos val="l"/>
        <c:majorGridlines>
          <c:spPr>
            <a:ln w="12700" cap="flat">
              <a:solidFill>
                <a:srgbClr val="E8E3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2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Voy a defender el caso Alcopalet. En diez minutos: cuál es el problema, qué decisión propongo y cómo se ejecuta.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voy a contar el caso, que ya conocen. Solo subrayo una cosa: la máquina hay que decidirla hoy, el contrato es todavía un borrador. Son dos decisiones, no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precio es de 10 € y el coste unitario 10,52 €. El margen es negativo antes de cualquier coste fijo. Y la madera es el 83 % del precio, así que ninguna mejora de productividad lo arregla.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Sumando campa, leasing y el coste de cobrar a 180 días, el contrato resta 188.877 € al año: dos tercios del beneficio de toda la empresa, no solo de la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alternativas viables. Las dos primeras son las que estaban sobre la mesa; las dos últimas salen del análisis. Descarté una quinta, esperar y buscar otra máquina, porque el fabricante exige respuesta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se valora desde tres perspectivas. La económico-financiera es la que más pesa, porque el problema es de margen y de caja.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1 destruye valor. La 2 no prepara a la empresa para crecer. La 3 es buena, pero desaprovecha a Persán si se puede hacer rentable; la mantengo como plan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decisión: comprar el robot hoy y condicionar la firma a renegociar precio y plazo de cobro. Son dos decisiones separadas, con plazos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12,50 € y cobro a 90 días el contrato pasa de restar 188.877 € a aportar 48.606 €. La mejora es de 237.483 € anuales.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máquina no se compra por capacidad. Se compra por flexibilidad y por reducir la dependencia de una mano de obra difícil de contratar. Se paga en 84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fases. La clave está en la primera: el robot se confirma hoy, pero la campa y el camión no se contratan hasta que haya 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Persán no acepta, se rechaza y se conserva la máquina. Crecer sí, pero con margen. Invertir sí, pero sin atar la inversión al contrato. Y repartir sí, cuando el negocio genere caja.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1284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ALCOPALET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FD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precio del crecimiento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4224528"/>
            <a:ext cx="118872" cy="118872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Verdugo Calvo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LYDES  ·  San Telmo Business School  ·  31 de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asuntos sobre la mesa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diciembre de 2025 · Comité de dirección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16224" cy="2999232"/>
          </a:xfrm>
          <a:prstGeom prst="roundRect">
            <a:avLst>
              <a:gd name="adj" fmla="val 1829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475488" cy="475488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78608"/>
            <a:ext cx="2676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Persán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10128"/>
            <a:ext cx="267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90.000 palés/año a 10 € fijos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5 años · cobro a 180 días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279392"/>
            <a:ext cx="267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sin firmar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6344" y="1691640"/>
            <a:ext cx="3316224" cy="2999232"/>
          </a:xfrm>
          <a:prstGeom prst="roundRect">
            <a:avLst>
              <a:gd name="adj" fmla="val 1829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6384" y="1965960"/>
            <a:ext cx="475488" cy="475488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6384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578608"/>
            <a:ext cx="2676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 máquina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310128"/>
            <a:ext cx="267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40.000 € · más flexibilidad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menos dependencia de mano de obra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96384" y="4279392"/>
            <a:ext cx="267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HOY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12608" y="1691640"/>
            <a:ext cx="3316224" cy="2999232"/>
          </a:xfrm>
          <a:prstGeom prst="roundRect">
            <a:avLst>
              <a:gd name="adj" fmla="val 1829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32648" y="1965960"/>
            <a:ext cx="475488" cy="475488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32648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32648" y="2578608"/>
            <a:ext cx="2676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Reparto a los fundadores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32648" y="3310128"/>
            <a:ext cx="267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padres quieren recoger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frutos de dieciocho años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32648" y="4279392"/>
            <a:ext cx="267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RESOLVER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0749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dos primeras decisiones se han tratado como una sola. Tienen plazos distintos.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Alcopalet · El precio del crecimiento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63447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es de capacidad. Es de precio.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Escandallo de costes unitarios · Anexo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por palé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7373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10,00 €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579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 (madera y clavos)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1579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8,27 €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786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 de obra directa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5786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0,42 €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92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999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0,53 €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198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costes variables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4198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1,30 €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6035040" cy="420624"/>
          </a:xfrm>
          <a:prstGeom prst="roundRect">
            <a:avLst>
              <a:gd name="adj" fmla="val 13043"/>
            </a:avLst>
          </a:prstGeom>
          <a:solidFill>
            <a:srgbClr val="EFD9B8"/>
          </a:solidFill>
          <a:ln w="12700">
            <a:solidFill>
              <a:srgbClr val="EFD9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404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UNITARIO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840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10,52 €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06640" y="1691640"/>
            <a:ext cx="4142232" cy="2651760"/>
          </a:xfrm>
          <a:prstGeom prst="roundRect">
            <a:avLst>
              <a:gd name="adj" fmla="val 2069"/>
            </a:avLst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PALÉ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86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7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−0,52 €</a:t>
            </a:r>
            <a:endParaRPr lang="en-US" sz="62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34015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palé vendido a Persán resta margen.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el volumen ni la máquina lo corrigen.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892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madera representa el 82,7 % del precio pactado, y el contrato lo fija durante cinco años sin revisión.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Alcopalet · El precio del crecimiento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63447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costaría firmar tal como está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resultados incremental del contrato · Anexo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37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 contribución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84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90.000 ud × (−0,52 €)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20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−46.800 €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496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Alquiler de la campa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5.000 €/mes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5786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−60.000 €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máquina + camión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4015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4.000 €/mes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23697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−48.000 €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758184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del circulante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0599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454.356 € al 7,5 %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8953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−34.077 €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635240" y="1783080"/>
            <a:ext cx="3913632" cy="3035808"/>
          </a:xfrm>
          <a:prstGeom prst="roundRect">
            <a:avLst>
              <a:gd name="adj" fmla="val 1807"/>
            </a:avLst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ANUAL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377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−188.877 €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401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67,6 %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34564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beneficio de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empresa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4160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944.383 € acumulados en los cinco años del contrato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Alcopalet · El precio del crecimiento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63447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alternativas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y análisis de opciones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475488" cy="475488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379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Aceptar el contrato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03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 como está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965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−188.877 € al año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77063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999232"/>
            <a:ext cx="475488" cy="475488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916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Rechazarlo y no invertir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2826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situación actual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0449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crecimiento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078224"/>
            <a:ext cx="475488" cy="475488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995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Comprar solo el robot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361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vincularlo a Persán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1239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6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171.262 € de ahorro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4928616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EFD9B8"/>
          </a:solidFill>
          <a:ln w="12700">
            <a:solidFill>
              <a:srgbClr val="EFD9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157216"/>
            <a:ext cx="475488" cy="475488"/>
          </a:xfrm>
          <a:prstGeom prst="ellipse">
            <a:avLst/>
          </a:prstGeom>
          <a:solidFill>
            <a:srgbClr val="2B211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157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50749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Renegociar y después firmar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440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12,50 € y cobro a 90 días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52029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6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+48.606 € al año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Alcopalet · El precio del crecimiento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63447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perspectivas para decidir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Fijación de criterios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16224" cy="3246120"/>
          </a:xfrm>
          <a:prstGeom prst="roundRect">
            <a:avLst>
              <a:gd name="adj" fmla="val 1690"/>
            </a:avLst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457200" cy="457200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78608"/>
            <a:ext cx="267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Económico-financiera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46120"/>
            <a:ext cx="2676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 de cada alternativa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necesarios y efecto en la liquidez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crecimiento no deteriore el margen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6344" y="1691640"/>
            <a:ext cx="3316224" cy="3246120"/>
          </a:xfrm>
          <a:prstGeom prst="roundRect">
            <a:avLst>
              <a:gd name="adj" fmla="val 1690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6384" y="1965960"/>
            <a:ext cx="457200" cy="457200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638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578608"/>
            <a:ext cx="267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Estratégica y de mercado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246120"/>
            <a:ext cx="2676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al crecimiento futuro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disponible para acompañarlo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que Persán pese en exceso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12608" y="1691640"/>
            <a:ext cx="3316224" cy="3246120"/>
          </a:xfrm>
          <a:prstGeom prst="roundRect">
            <a:avLst>
              <a:gd name="adj" fmla="val 1690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2648" y="1965960"/>
            <a:ext cx="457200" cy="457200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326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32648" y="2578608"/>
            <a:ext cx="267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Organizativa y humana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32648" y="3246120"/>
            <a:ext cx="2676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servicio a los clientes actuales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Aprovechar la plantilla sin despidos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con los intereses de la familia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Alcopalet · El precio del crecimiento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63447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se descartan tres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justificada · rechazo de alternativas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15568"/>
          </a:xfrm>
          <a:prstGeom prst="roundRect">
            <a:avLst>
              <a:gd name="adj" fmla="val 4918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57400"/>
            <a:ext cx="475488" cy="475488"/>
          </a:xfrm>
          <a:prstGeom prst="ellipse">
            <a:avLst/>
          </a:prstGeom>
          <a:solidFill>
            <a:srgbClr val="6B62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202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Aceptar tal como está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86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Sería crecer destruyendo valor: el precio de 10 € es inferior al coste de 10,52 €.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084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−188.877 €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10908792" cy="1115568"/>
          </a:xfrm>
          <a:prstGeom prst="roundRect">
            <a:avLst>
              <a:gd name="adj" fmla="val 4918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355848"/>
            <a:ext cx="475488" cy="475488"/>
          </a:xfrm>
          <a:prstGeom prst="ellipse">
            <a:avLst/>
          </a:prstGeom>
          <a:solidFill>
            <a:srgbClr val="6B625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3355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2186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Rechazar y no invertir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58444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resuelve las limitaciones de capacidad y espacio, y renuncia a 99.670 palés de recorrido en palé usado.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3383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futuro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334256"/>
            <a:ext cx="10908792" cy="1115568"/>
          </a:xfrm>
          <a:prstGeom prst="roundRect">
            <a:avLst>
              <a:gd name="adj" fmla="val 4918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4654296"/>
            <a:ext cx="475488" cy="475488"/>
          </a:xfrm>
          <a:prstGeom prst="ellipse">
            <a:avLst/>
          </a:prstGeom>
          <a:solidFill>
            <a:srgbClr val="6B625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2688" y="4654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5171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el robot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88289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en lo productivo, pero desaprovecha la oportunidad comercial si Persán puede ser rentable.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4681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Alcopalet · El precio del crecimiento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63447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Invertir en el robot y renegociar antes de firmar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14717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trike="sngStrike" dirty="0">
                <a:solidFill>
                  <a:srgbClr val="8A8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10,00 €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11807" y="29809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495855" y="2926080"/>
            <a:ext cx="17006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12,50 €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276344" y="2606040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DE COBRO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76344" y="2926080"/>
            <a:ext cx="14717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trike="sngStrike" dirty="0">
                <a:solidFill>
                  <a:srgbClr val="8A8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días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748071" y="29809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132119" y="2926080"/>
            <a:ext cx="17006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días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912608" y="2606040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PALÉ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12608" y="2926080"/>
            <a:ext cx="14717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trike="sngStrike" dirty="0">
                <a:solidFill>
                  <a:srgbClr val="8A8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−0,52 €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84335" y="29809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768383" y="2926080"/>
            <a:ext cx="17006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+1,98 €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776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se compra hoy: 40.000 € que se justifican por flexibilidad y se recuperan en 84 días.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firma queda condicionada a que Persán acepte unas condiciones rentables.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efecto de renegociar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anual del contrato · Anexo 8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737360"/>
            <a:ext cx="3593592" cy="1417320"/>
          </a:xfrm>
          <a:prstGeom prst="roundRect">
            <a:avLst>
              <a:gd name="adj" fmla="val 3871"/>
            </a:avLst>
          </a:prstGeom>
          <a:solidFill>
            <a:srgbClr val="EFD9B8"/>
          </a:solidFill>
          <a:ln w="12700">
            <a:solidFill>
              <a:srgbClr val="EFD9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0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ANUAL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2128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+237.483 €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001000" y="3502152"/>
            <a:ext cx="100584" cy="100584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palé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3621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−0,52 € a +1,98 €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4069080"/>
            <a:ext cx="100584" cy="100584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950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Circulante inmovilizado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187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reduce a la mitad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4636008"/>
            <a:ext cx="100584" cy="100584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517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la empresa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54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crecer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Alcopalet · El precio del crecimiento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63447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robot se justifica por sí solo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independiente del contrato · Anexo 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16224" cy="2148840"/>
          </a:xfrm>
          <a:prstGeom prst="roundRect">
            <a:avLst>
              <a:gd name="adj" fmla="val 2553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2676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40.000 €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34056"/>
            <a:ext cx="267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inversión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267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un beneficio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279.364 €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6344" y="1691640"/>
            <a:ext cx="3316224" cy="2148840"/>
          </a:xfrm>
          <a:prstGeom prst="roundRect">
            <a:avLst>
              <a:gd name="adj" fmla="val 2553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6384" y="1938528"/>
            <a:ext cx="2676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días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96384" y="2734056"/>
            <a:ext cx="267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recuperación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3063240"/>
            <a:ext cx="267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ahorro neto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171.262 € anuales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12608" y="1691640"/>
            <a:ext cx="3316224" cy="2148840"/>
          </a:xfrm>
          <a:prstGeom prst="roundRect">
            <a:avLst>
              <a:gd name="adj" fmla="val 2553"/>
            </a:avLst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32648" y="1938528"/>
            <a:ext cx="2676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operarios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232648" y="2734056"/>
            <a:ext cx="267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32648" y="3063240"/>
            <a:ext cx="267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despidos: se recolocan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palé usado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35254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compra la máquina es flexibilidad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7365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formato pasa de 300 a 25 minutos, lo que hace viables las series cortas.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526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strike="sngStrike" dirty="0">
                <a:solidFill>
                  <a:srgbClr val="8A8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min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4590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min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Alcopalet · El precio del crecimiento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63447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acción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Secuenciación temporal de actuaciones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19656"/>
            <a:ext cx="457200" cy="457200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276856"/>
            <a:ext cx="0" cy="438912"/>
          </a:xfrm>
          <a:prstGeom prst="line">
            <a:avLst/>
          </a:prstGeom>
          <a:noFill/>
          <a:ln w="25400">
            <a:solidFill>
              <a:srgbClr val="EFD9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7556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1. Negociación y decisión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848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el robot y negociar precio y plazo. La firma queda condicionada a la rentabilidad.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172968"/>
            <a:ext cx="0" cy="438912"/>
          </a:xfrm>
          <a:prstGeom prst="line">
            <a:avLst/>
          </a:prstGeom>
          <a:noFill/>
          <a:ln w="25400">
            <a:solidFill>
              <a:srgbClr val="EFD9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26517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2. Implantación productiva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8094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Instalación, pruebas por formato y operario formado. Campa y transporte, solo si hay acuerdo.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069080"/>
            <a:ext cx="0" cy="438912"/>
          </a:xfrm>
          <a:prstGeom prst="line">
            <a:avLst/>
          </a:prstGeom>
          <a:noFill/>
          <a:ln w="25400">
            <a:solidFill>
              <a:srgbClr val="EFD9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35478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3. Reorganización de recursos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7705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Reasignar sin despidos a palé usado y revisar la distribución del espacio.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8680" y="4965192"/>
            <a:ext cx="0" cy="438912"/>
          </a:xfrm>
          <a:prstGeom prst="line">
            <a:avLst/>
          </a:prstGeom>
          <a:noFill/>
          <a:ln w="25400">
            <a:solidFill>
              <a:srgbClr val="EFD9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444398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4. Seguimiento y control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77316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mando mensual y revisión a los tres y seis meses.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404104"/>
            <a:ext cx="457200" cy="457200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34009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5. Consolidación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6692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capacidad para ampliar cartera y evitar la dependencia de un solo cliente.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Alcopalet · El precio del crecimiento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63447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8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PERSÁN NO ACEPTA?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451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rechaza el contrato y se mantiene la inversión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33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deja de depender de Persán y pasa a formar parte de la modernización de la estructura productiva. La capacidad liberada se orienta a captar clientes rentables.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118872" cy="118872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114800"/>
            <a:ext cx="3270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53712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pero con margen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76344" y="3886200"/>
            <a:ext cx="118872" cy="118872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76344" y="4114800"/>
            <a:ext cx="3270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Invertir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276344" y="4553712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pero sin atarlo al contrato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12608" y="3886200"/>
            <a:ext cx="118872" cy="118872"/>
          </a:xfrm>
          <a:prstGeom prst="ellipse">
            <a:avLst/>
          </a:prstGeom>
          <a:solidFill>
            <a:srgbClr val="C87F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12608" y="4114800"/>
            <a:ext cx="3270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Repartir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912608" y="4553712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cuando el negocio genere caja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Verdugo Calvo  ·  Programa LYDES  ·  San Telmo Business School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Alcopalet — El precio del crecimiento</dc:title>
  <dc:subject>PptxGenJS Presentation</dc:subject>
  <dc:creator>Daniel Verdugo Calvo</dc:creator>
  <cp:lastModifiedBy>Daniel Verdugo Calvo</cp:lastModifiedBy>
  <cp:revision>1</cp:revision>
  <dcterms:created xsi:type="dcterms:W3CDTF">2026-08-29T15:50:31Z</dcterms:created>
  <dcterms:modified xsi:type="dcterms:W3CDTF">2026-08-29T15:50:31Z</dcterms:modified>
</cp:coreProperties>
</file>